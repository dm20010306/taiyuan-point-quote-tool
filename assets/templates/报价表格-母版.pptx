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1" Type="http://schemas.openxmlformats.org/officeDocument/2006/relationships/viewProps" Target="viewProp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1030817" y="5786488"/>
            <a:ext cx="1140205" cy="355600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81200" y="3467100"/>
          <a:ext cx="20424140" cy="9404351"/>
        </p:xfrm>
        <a:graphic>
          <a:graphicData uri="http://schemas.openxmlformats.org/drawingml/2006/table">
            <a:tbl>
              <a:tblPr/>
              <a:tblGrid>
                <a:gridCol w="6363969"/>
                <a:gridCol w="1478280"/>
                <a:gridCol w="3554730"/>
                <a:gridCol w="1784350"/>
                <a:gridCol w="1213485"/>
                <a:gridCol w="1406525"/>
                <a:gridCol w="1866265"/>
                <a:gridCol w="1112520"/>
                <a:gridCol w="1644015"/>
              </a:tblGrid>
              <a:tr h="487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732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98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产品编号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86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04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8469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5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96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5230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Matech Q54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6789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米勒铂晶 Q54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80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Matech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356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¥1300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09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¥1300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218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KNX</a:t>
                      </a:r>
                      <a:r>
                        <a:rPr sz="20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IP 路由模块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920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M/IPRT.1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6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451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¥2670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¥2670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185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KNX 总线电源模块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555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9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M/P960.1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6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356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¥1550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09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¥1550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554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辅助电源</a:t>
                      </a:r>
                      <a:r>
                        <a:rPr sz="2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24V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997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HDR-60-24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76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明纬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4365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689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462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DALI网关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730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M/DALI.1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6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165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¥2500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¥7500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494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开闭模块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M/R12.10.1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6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90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4515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¥2750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69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¥8250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494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苹果网桥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Thinka</a:t>
                      </a:r>
                      <a:r>
                        <a:rPr sz="20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1.2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546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Thinka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2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荷兰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451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¥8700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¥8700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367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逻辑主机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1097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</a:t>
                      </a:r>
                      <a:r>
                        <a:rPr sz="2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Control 4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258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美国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357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16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¥6850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69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¥6850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710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73100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503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2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¥37070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3100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5353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（服务）硬件安装、设备编程、场景调试</a:t>
                      </a:r>
                      <a:r>
                        <a:rPr sz="2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、售后维保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¥12975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52890" algn="l" rtl="0" eaLnBrk="0">
                        <a:lnSpc>
                          <a:spcPct val="9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4490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¥50045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6"/>
          <p:cNvSpPr/>
          <p:nvPr/>
        </p:nvSpPr>
        <p:spPr>
          <a:xfrm>
            <a:off x="1955800" y="1609898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98969" algn="l" rtl="0" eaLnBrk="0">
              <a:lnSpc>
                <a:spcPct val="97000"/>
              </a:lnSpc>
              <a:tabLst/>
            </a:pP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智能电箱模块系统报价清单报价清单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89152" y="9565007"/>
            <a:ext cx="1390224" cy="80142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44943" y="7991511"/>
            <a:ext cx="1478643" cy="742719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08809" y="5557888"/>
            <a:ext cx="1350909" cy="801423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683553" y="4756464"/>
            <a:ext cx="801423" cy="80142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683553" y="3955041"/>
            <a:ext cx="801423" cy="801423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692562" y="7160735"/>
            <a:ext cx="783404" cy="801423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97825" y="6359312"/>
            <a:ext cx="772879" cy="80142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808776" y="8838716"/>
            <a:ext cx="525933" cy="6386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1981200" y="3302000"/>
          <a:ext cx="20424140" cy="8764905"/>
        </p:xfrm>
        <a:graphic>
          <a:graphicData uri="http://schemas.openxmlformats.org/drawingml/2006/table">
            <a:tbl>
              <a:tblPr/>
              <a:tblGrid>
                <a:gridCol w="6407150"/>
                <a:gridCol w="1680210"/>
                <a:gridCol w="2736215"/>
                <a:gridCol w="1937385"/>
                <a:gridCol w="1937385"/>
                <a:gridCol w="1276985"/>
                <a:gridCol w="1795780"/>
                <a:gridCol w="1070610"/>
                <a:gridCol w="1582420"/>
              </a:tblGrid>
              <a:tr h="1115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954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579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74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产品编号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6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22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2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853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80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吉朗八键开关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362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Graun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420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Graun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737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6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块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6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¥7150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550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614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083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6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¥7150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4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8464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（服务）硬件安装、设备编程、场景调试</a:t>
                      </a:r>
                      <a:r>
                        <a:rPr sz="2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、售后维保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¥2503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1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400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¥9653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box 26"/>
          <p:cNvSpPr/>
          <p:nvPr/>
        </p:nvSpPr>
        <p:spPr>
          <a:xfrm>
            <a:off x="1955800" y="1609898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24570" algn="l" rtl="0" eaLnBrk="0">
              <a:lnSpc>
                <a:spcPct val="97000"/>
              </a:lnSpc>
              <a:tabLst/>
            </a:pP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智能面板报价清单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68537" y="4798707"/>
            <a:ext cx="909456" cy="1065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1981200" y="3314700"/>
          <a:ext cx="20424140" cy="8764905"/>
        </p:xfrm>
        <a:graphic>
          <a:graphicData uri="http://schemas.openxmlformats.org/drawingml/2006/table">
            <a:tbl>
              <a:tblPr/>
              <a:tblGrid>
                <a:gridCol w="4025900"/>
                <a:gridCol w="2442210"/>
                <a:gridCol w="4355465"/>
                <a:gridCol w="1937385"/>
                <a:gridCol w="1937385"/>
                <a:gridCol w="1276985"/>
                <a:gridCol w="1795780"/>
                <a:gridCol w="1070610"/>
                <a:gridCol w="1582420"/>
              </a:tblGrid>
              <a:tr h="1115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828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615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70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产品编号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6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22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2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853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855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人体存在传感器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397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Mini-DTP-KNX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2919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Creatrol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¥580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194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¥5800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550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614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272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¥5800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4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（服务）硬件安装、设备编程、场景调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试、售后维保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¥2030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589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6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¥7830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2"/>
          <p:cNvSpPr/>
          <p:nvPr/>
        </p:nvSpPr>
        <p:spPr>
          <a:xfrm>
            <a:off x="1955800" y="1609898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21370" algn="l" rtl="0" eaLnBrk="0">
              <a:lnSpc>
                <a:spcPct val="97000"/>
              </a:lnSpc>
              <a:tabLst/>
            </a:pP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智能传感器报价清单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0200" y="5011488"/>
            <a:ext cx="10922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 36"/>
          <p:cNvSpPr/>
          <p:nvPr/>
        </p:nvSpPr>
        <p:spPr>
          <a:xfrm>
            <a:off x="10808241" y="5898503"/>
            <a:ext cx="1304544" cy="355600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rect 38"/>
          <p:cNvSpPr/>
          <p:nvPr/>
        </p:nvSpPr>
        <p:spPr>
          <a:xfrm>
            <a:off x="10683273" y="4596959"/>
            <a:ext cx="1554479" cy="355600"/>
          </a:xfrm>
          <a:prstGeom prst="rect">
            <a:avLst/>
          </a:prstGeom>
          <a:solidFill>
            <a:srgbClr val="F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1981200" y="3340100"/>
          <a:ext cx="20424140" cy="8764905"/>
        </p:xfrm>
        <a:graphic>
          <a:graphicData uri="http://schemas.openxmlformats.org/drawingml/2006/table">
            <a:tbl>
              <a:tblPr/>
              <a:tblGrid>
                <a:gridCol w="6407150"/>
                <a:gridCol w="1727835"/>
                <a:gridCol w="2688590"/>
                <a:gridCol w="1937385"/>
                <a:gridCol w="1937385"/>
                <a:gridCol w="1276985"/>
                <a:gridCol w="1795780"/>
                <a:gridCol w="1070610"/>
                <a:gridCol w="1582420"/>
              </a:tblGrid>
              <a:tr h="786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95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992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391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产品编号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6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22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21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01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0079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KNX 超静音开合帘电机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483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9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MWC1-KT.10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885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HDL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¥699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194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6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¥9786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373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杜亚智能窗帘KNX电机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23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90196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C7-TSIO16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9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杜亚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67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¥1299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19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8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172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超静音窗帘轨道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0160" algn="l" rtl="0" eaLnBrk="0">
                        <a:lnSpc>
                          <a:spcPts val="694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517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定制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83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⽶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8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8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890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09664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083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6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¥9786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664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8464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（服务）硬件安装、设备编程、场景调试</a:t>
                      </a:r>
                      <a:r>
                        <a:rPr sz="2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、售后维保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¥3425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934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400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¥13211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box 42"/>
          <p:cNvSpPr/>
          <p:nvPr/>
        </p:nvSpPr>
        <p:spPr>
          <a:xfrm>
            <a:off x="1955800" y="1609898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24570" algn="l" rtl="0" eaLnBrk="0">
              <a:lnSpc>
                <a:spcPct val="97000"/>
              </a:lnSpc>
              <a:tabLst/>
            </a:pP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智能窗帘报价清单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88546" y="6742943"/>
            <a:ext cx="1727851" cy="1275952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88546" y="5494282"/>
            <a:ext cx="1727851" cy="1170186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96300" y="4666164"/>
            <a:ext cx="15113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1981200" y="3352800"/>
          <a:ext cx="20424140" cy="8764905"/>
        </p:xfrm>
        <a:graphic>
          <a:graphicData uri="http://schemas.openxmlformats.org/drawingml/2006/table">
            <a:tbl>
              <a:tblPr/>
              <a:tblGrid>
                <a:gridCol w="6407150"/>
                <a:gridCol w="1727835"/>
                <a:gridCol w="2688590"/>
                <a:gridCol w="1937385"/>
                <a:gridCol w="1937385"/>
                <a:gridCol w="1276985"/>
                <a:gridCol w="1795780"/>
                <a:gridCol w="1070610"/>
                <a:gridCol w="1582420"/>
              </a:tblGrid>
              <a:tr h="1115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954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992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3914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产品编号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6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722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400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72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853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953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VRF温控器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KNX-B19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中弘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104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2605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¥2400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194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¥4800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8550">
                <a:tc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614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083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¥4800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14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8464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（服务）硬件安装、设备编程、场景调试</a:t>
                      </a:r>
                      <a:r>
                        <a:rPr sz="2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、售后维保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8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497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¥1680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16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8400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¥6480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textbox 52"/>
          <p:cNvSpPr/>
          <p:nvPr/>
        </p:nvSpPr>
        <p:spPr>
          <a:xfrm>
            <a:off x="1955800" y="1609898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24570" algn="l" rtl="0" eaLnBrk="0">
              <a:lnSpc>
                <a:spcPct val="97000"/>
              </a:lnSpc>
              <a:tabLst/>
            </a:pP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智能暖通报价清单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48700" y="4871788"/>
            <a:ext cx="11938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6"/>
          <p:cNvGraphicFramePr>
            <a:graphicFrameLocks noGrp="1"/>
          </p:cNvGraphicFramePr>
          <p:nvPr/>
        </p:nvGraphicFramePr>
        <p:xfrm>
          <a:off x="1981200" y="3009900"/>
          <a:ext cx="20424140" cy="9464675"/>
        </p:xfrm>
        <a:graphic>
          <a:graphicData uri="http://schemas.openxmlformats.org/drawingml/2006/table">
            <a:tbl>
              <a:tblPr/>
              <a:tblGrid>
                <a:gridCol w="5420360"/>
                <a:gridCol w="5408294"/>
                <a:gridCol w="1453515"/>
                <a:gridCol w="1453515"/>
                <a:gridCol w="1492250"/>
                <a:gridCol w="2098040"/>
                <a:gridCol w="1250950"/>
                <a:gridCol w="1847215"/>
              </a:tblGrid>
              <a:tr h="1405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805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项目类别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06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35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1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992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42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932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智能线材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5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EIB</a:t>
                      </a:r>
                      <a:r>
                        <a:rPr sz="2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总线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60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秋叶原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911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22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9465" algn="l" rtl="0" eaLnBrk="0">
                        <a:lnSpc>
                          <a:spcPct val="7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¥4.7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5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⽶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09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¥1410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1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932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智能线材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07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DALI总线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246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911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22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11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¥3.0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⽶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849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¥900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8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805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项目类别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产品名称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35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单价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1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992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986280">
                <a:tc gridSpan="7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24925" algn="l" rtl="0" eaLnBrk="0">
                        <a:lnSpc>
                          <a:spcPts val="2328"/>
                        </a:lnSpc>
                        <a:tabLst/>
                      </a:pPr>
                      <a:r>
                        <a:rPr sz="1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总计：</a:t>
                      </a:r>
                      <a:endParaRPr sz="1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769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¥2310</a:t>
                      </a:r>
                      <a:endParaRPr sz="2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textbox 58"/>
          <p:cNvSpPr/>
          <p:nvPr/>
        </p:nvSpPr>
        <p:spPr>
          <a:xfrm>
            <a:off x="1955800" y="1260061"/>
            <a:ext cx="20472400" cy="1270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26475" algn="l" rtl="0" eaLnBrk="0">
              <a:lnSpc>
                <a:spcPct val="97000"/>
              </a:lnSpc>
              <a:tabLst/>
            </a:pPr>
            <a:r>
              <a:rPr sz="3200" kern="0" spc="-20" dirty="0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综合布线报价清单</a:t>
            </a:r>
            <a:endParaRPr sz="3200" dirty="0"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2260600" y="1130300"/>
          <a:ext cx="19855180" cy="11448416"/>
        </p:xfrm>
        <a:graphic>
          <a:graphicData uri="http://schemas.openxmlformats.org/drawingml/2006/table">
            <a:tbl>
              <a:tblPr/>
              <a:tblGrid>
                <a:gridCol w="9927590"/>
                <a:gridCol w="9927590"/>
              </a:tblGrid>
              <a:tr h="156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2211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项目类别</a:t>
                      </a:r>
                      <a:endParaRPr sz="3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00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30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项目合计</a:t>
                      </a:r>
                      <a:endParaRPr sz="3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2430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智能系统模块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3578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¥50045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智能面板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246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¥9653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210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智能传感器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3890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¥7830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智能遮阳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008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¥13211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智能暖通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246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¥6480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28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智能线材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056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¥2310</a:t>
                      </a:r>
                      <a:endParaRPr sz="28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7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00575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  <a:endParaRPr sz="3000" dirty="0"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21810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3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¥89528</a:t>
                      </a:r>
                      <a:endParaRPr sz="3000" dirty="0"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Keynote讲演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康桥圣菲12-2-304有线方案国产</dc:title>
  <dcterms:created xsi:type="dcterms:W3CDTF">2026-09-27T13:33:55Z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2026-09-27T13:34:11</vt:filetime>
  </property>
</Properties>
</file>